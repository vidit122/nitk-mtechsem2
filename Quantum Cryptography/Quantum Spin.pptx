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Merriweather"/>
      <p:regular r:id="rId38"/>
      <p:bold r:id="rId39"/>
      <p:italic r:id="rId40"/>
      <p:boldItalic r:id="rId41"/>
    </p:embeddedFont>
    <p:embeddedFont>
      <p:font typeface="Inter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italic.fntdata"/><Relationship Id="rId20" Type="http://schemas.openxmlformats.org/officeDocument/2006/relationships/slide" Target="slides/slide15.xml"/><Relationship Id="rId42" Type="http://schemas.openxmlformats.org/officeDocument/2006/relationships/font" Target="fonts/InterMedium-regular.fntdata"/><Relationship Id="rId41" Type="http://schemas.openxmlformats.org/officeDocument/2006/relationships/font" Target="fonts/Merriweather-boldItalic.fntdata"/><Relationship Id="rId22" Type="http://schemas.openxmlformats.org/officeDocument/2006/relationships/slide" Target="slides/slide17.xml"/><Relationship Id="rId44" Type="http://schemas.openxmlformats.org/officeDocument/2006/relationships/font" Target="fonts/InterMedium-italic.fntdata"/><Relationship Id="rId21" Type="http://schemas.openxmlformats.org/officeDocument/2006/relationships/slide" Target="slides/slide16.xml"/><Relationship Id="rId43" Type="http://schemas.openxmlformats.org/officeDocument/2006/relationships/font" Target="fonts/InterMedium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Inter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Inter-bold.fntdata"/><Relationship Id="rId12" Type="http://schemas.openxmlformats.org/officeDocument/2006/relationships/slide" Target="slides/slide7.xml"/><Relationship Id="rId34" Type="http://schemas.openxmlformats.org/officeDocument/2006/relationships/font" Target="fonts/Inter-regular.fntdata"/><Relationship Id="rId15" Type="http://schemas.openxmlformats.org/officeDocument/2006/relationships/slide" Target="slides/slide10.xml"/><Relationship Id="rId37" Type="http://schemas.openxmlformats.org/officeDocument/2006/relationships/font" Target="fonts/Inter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-italic.fntdata"/><Relationship Id="rId17" Type="http://schemas.openxmlformats.org/officeDocument/2006/relationships/slide" Target="slides/slide12.xml"/><Relationship Id="rId39" Type="http://schemas.openxmlformats.org/officeDocument/2006/relationships/font" Target="fonts/Merriweather-bold.fntdata"/><Relationship Id="rId16" Type="http://schemas.openxmlformats.org/officeDocument/2006/relationships/slide" Target="slides/slide11.xml"/><Relationship Id="rId38" Type="http://schemas.openxmlformats.org/officeDocument/2006/relationships/font" Target="fonts/Merriweather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8ad53d36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8ad53d36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8ad53d36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8ad53d36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ad53d36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ad53d36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8ad53d36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8ad53d36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8d9bcaf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8d9bcaf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8ad53d36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8ad53d36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8ad53d36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8ad53d36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8ad53d365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8ad53d36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ad53d36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8ad53d36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8ad53d36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8ad53d36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8ad53d365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8ad53d365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8ad53d365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8ad53d365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8ad53d365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8ad53d36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8ad53d365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8ad53d36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ad53d365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8ad53d36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8ad53d365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8ad53d365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 this is vidit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8ad53d365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8ad53d365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8ad53d365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8ad53d365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8ad53d365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8ad53d365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8ad53d365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8ad53d365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8ad53d365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8ad53d365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8ad53d365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8ad53d365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8f20aee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8f20aee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186775" y="1568400"/>
            <a:ext cx="8520600" cy="9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Quantum Spin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4264075" y="37410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Rahul Kumar   Vidit Prashant Gala</a:t>
            </a:r>
            <a:endParaRPr b="1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252is029		252is012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25" y="2156750"/>
            <a:ext cx="3284988" cy="232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Stern–Gerlach Experiment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beam of atoms passed through a magnetic field splits into two separate spots instead of forming a continuous line.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Conclusion: Nature at microscopic scale behaves discretely , not continuously.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563" y="2194850"/>
            <a:ext cx="5160876" cy="364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2609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Spin?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644675" y="500925"/>
            <a:ext cx="4084800" cy="11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Spin is fundamental Quantum property of particle. It behaves mathematically like angular momentum of a particle.</a:t>
            </a:r>
            <a:endParaRPr sz="1600"/>
          </a:p>
        </p:txBody>
      </p:sp>
      <p:sp>
        <p:nvSpPr>
          <p:cNvPr id="80" name="Google Shape;80;p15"/>
          <p:cNvSpPr txBox="1"/>
          <p:nvPr/>
        </p:nvSpPr>
        <p:spPr>
          <a:xfrm>
            <a:off x="4644675" y="1920425"/>
            <a:ext cx="4340400" cy="3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Electrons behave like tiny magnets. When measured, their magnetic orientation can only have two outcomes(if we measures in vertical basis):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Spin Up (N)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Spin Down (S)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Nothing in between.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Inter"/>
                <a:ea typeface="Inter"/>
                <a:cs typeface="Inter"/>
                <a:sym typeface="Inter"/>
              </a:rPr>
              <a:t>This property is </a:t>
            </a:r>
            <a:r>
              <a:rPr b="1" lang="en-GB">
                <a:latin typeface="Inter"/>
                <a:ea typeface="Inter"/>
                <a:cs typeface="Inter"/>
                <a:sym typeface="Inter"/>
              </a:rPr>
              <a:t>quantized</a:t>
            </a:r>
            <a:r>
              <a:rPr lang="en-GB">
                <a:latin typeface="Inter"/>
                <a:ea typeface="Inter"/>
                <a:cs typeface="Inter"/>
                <a:sym typeface="Inter"/>
              </a:rPr>
              <a:t>, meaning it does not vary continuously</a:t>
            </a:r>
            <a:r>
              <a:rPr lang="en-GB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258375" y="1877950"/>
            <a:ext cx="3750600" cy="3112800"/>
          </a:xfrm>
          <a:prstGeom prst="rect">
            <a:avLst/>
          </a:prstGeom>
          <a:solidFill>
            <a:schemeClr val="accent3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Applications: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44">
                <a:solidFill>
                  <a:schemeClr val="dk1"/>
                </a:solidFill>
              </a:rPr>
              <a:t>MRI works because:</a:t>
            </a:r>
            <a:endParaRPr sz="1244">
              <a:solidFill>
                <a:schemeClr val="dk1"/>
              </a:solidFill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Char char="●"/>
            </a:pPr>
            <a:r>
              <a:rPr lang="en-GB" sz="1144">
                <a:solidFill>
                  <a:schemeClr val="dk1"/>
                </a:solidFill>
              </a:rPr>
              <a:t>Hydrogen nuclei have spin ,Body images are created by measuring the magnetic response of hydrogen nuclei aligned within a strong field.</a:t>
            </a:r>
            <a:endParaRPr sz="114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MRAM</a:t>
            </a:r>
            <a:r>
              <a:rPr lang="en-GB" sz="1700">
                <a:solidFill>
                  <a:schemeClr val="dk1"/>
                </a:solidFill>
              </a:rPr>
              <a:t>:</a:t>
            </a:r>
            <a:r>
              <a:rPr lang="en-GB" sz="1200">
                <a:solidFill>
                  <a:schemeClr val="dk1"/>
                </a:solidFill>
              </a:rPr>
              <a:t>More energy-efficient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Quantum Cryptography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194150" y="2088075"/>
            <a:ext cx="3951900" cy="22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Goal: Stop </a:t>
            </a:r>
            <a:r>
              <a:rPr lang="en-GB" sz="2200"/>
              <a:t>Eavesdropping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6"/>
              <a:t>Measurement changes it</a:t>
            </a:r>
            <a:br>
              <a:rPr lang="en-GB" sz="1466"/>
            </a:br>
            <a:endParaRPr sz="14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6"/>
              <a:t>You cannot measure without disturbing it</a:t>
            </a:r>
            <a:endParaRPr sz="146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5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1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↑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| = [1   0]   can be also called as 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North/Up</a:t>
            </a:r>
            <a:endParaRPr b="1"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↓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| = [0   1]   can be also called as 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South/Down</a:t>
            </a:r>
            <a:endParaRPr b="1"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 —&gt;| = 	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[ 1   1]   can be also called as 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East/Right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⟨ </a:t>
            </a:r>
            <a:r>
              <a:rPr b="1" lang="en-GB" sz="1616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←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| =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	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[ 1   -1] can be also called as 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West/Left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8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Quantum Measurement:</a:t>
            </a:r>
            <a:endParaRPr sz="1508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|ψ⟩ = c₁ </a:t>
            </a:r>
            <a:r>
              <a:rPr b="1"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|↑⟩</a:t>
            </a: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+  c₂ </a:t>
            </a:r>
            <a:r>
              <a:rPr b="1"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|↓⟩  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State collapses to either </a:t>
            </a:r>
            <a:r>
              <a:rPr lang="en-GB" sz="1716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|↑⟩ or |↓⟩ </a:t>
            </a:r>
            <a:endParaRPr sz="1716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24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of |↑⟩ is | c₁</a:t>
            </a:r>
            <a:r>
              <a:rPr lang="en-GB" sz="1824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GB" sz="1824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² </a:t>
            </a:r>
            <a:endParaRPr sz="1824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24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of |↓⟩ is | c₂</a:t>
            </a:r>
            <a:r>
              <a:rPr lang="en-GB" sz="1824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GB" sz="1824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² </a:t>
            </a:r>
            <a:endParaRPr sz="1824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64125" y="653325"/>
            <a:ext cx="3501300" cy="12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of Spin</a:t>
            </a:r>
            <a:endParaRPr/>
          </a:p>
        </p:txBody>
      </p:sp>
      <p:pic>
        <p:nvPicPr>
          <p:cNvPr descr="{&quot;code&quot;:&quot;$\\frac{1}{{\\sqrt[]{2}}}$&quot;,&quot;backgroundColorModified&quot;:false,&quot;backgroundColor&quot;:&quot;#FFFFFF&quot;,&quot;type&quot;:&quot;$&quot;,&quot;aid&quot;:null,&quot;id&quot;:&quot;2&quot;,&quot;font&quot;:{&quot;color&quot;:&quot;#31394D&quot;,&quot;family&quot;:&quot;Arial&quot;,&quot;size&quot;:14},&quot;ts&quot;:1771349964782,&quot;cs&quot;:&quot;jJoYOWi8y9UPphb+0quxHA==&quot;,&quot;size&quot;:{&quot;width&quot;:25.333333333333332,&quot;height&quot;:31.666666666666668}}"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149" y="1573709"/>
            <a:ext cx="241175" cy="30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frac{1}{{\\sqrt[]{2}}}$&quot;,&quot;backgroundColorModified&quot;:false,&quot;backgroundColor&quot;:&quot;#FFFFFF&quot;,&quot;type&quot;:&quot;$&quot;,&quot;aid&quot;:null,&quot;id&quot;:&quot;2&quot;,&quot;font&quot;:{&quot;color&quot;:&quot;#31394D&quot;,&quot;family&quot;:&quot;Arial&quot;,&quot;size&quot;:14},&quot;ts&quot;:1771349964782,&quot;cs&quot;:&quot;jJoYOWi8y9UPphb+0quxHA==&quot;,&quot;size&quot;:{&quot;width&quot;:25.333333333333332,&quot;height&quot;:31.666666666666668}}"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998" y="1931849"/>
            <a:ext cx="241175" cy="3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Measuring Spin in Different Directions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714725" y="5224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Given a spin lets say: </a:t>
            </a:r>
            <a:r>
              <a:rPr b="1" lang="en-GB" sz="17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|ψ⟩ = 1 ⟨↑| + 0 ⟨↓|</a:t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of ⟨↑| is 1, Probability of ⟨↓| is 0</a:t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we measure this vector in the horizontal direction, we will get ?</a:t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366750" y="0"/>
            <a:ext cx="47772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GB" sz="2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Step3 :</a:t>
            </a:r>
            <a:endParaRPr baseline="30000" sz="26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aseline="30000" lang="en-GB" sz="2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Equate Components:</a:t>
            </a:r>
            <a:endParaRPr baseline="30000" sz="26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[1  0]</a:t>
            </a:r>
            <a:r>
              <a:rPr baseline="30000"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 [( x₁+x₂)/√2   ( x₁-x₂)/√2]</a:t>
            </a:r>
            <a:r>
              <a:rPr baseline="30000"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</a:t>
            </a:r>
            <a:endParaRPr baseline="30000" sz="18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x₁ = 1/√2,  x₂ = 1/√2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Final Expression: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∣↑⟩=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1/√2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∣→⟩ +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1/√2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∣←⟩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P(→)=​1/2 and for left also 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1/2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Hence,If we measure spin in horizontal direction, starting from Up state: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50% chance of Right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50% chance of Left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​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311725" y="241800"/>
            <a:ext cx="3846300" cy="52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Given : ∣ψ⟩=1∣↑⟩+0∣↓⟩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means it is UP :∣ψ⟩=∣↑⟩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Vertical Basis: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∣↑⟩=[1 0​]</a:t>
            </a:r>
            <a:r>
              <a:rPr baseline="30000" lang="en-GB" sz="1500"/>
              <a:t>T   </a:t>
            </a:r>
            <a:r>
              <a:rPr lang="en-GB" sz="1500"/>
              <a:t> and ∣↓⟩=[0 1​]</a:t>
            </a:r>
            <a:r>
              <a:rPr baseline="30000" lang="en-GB" sz="1500"/>
              <a:t>T</a:t>
            </a:r>
            <a:endParaRPr baseline="3000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Horizontal basis: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∣→⟩=1/√2 ​[1  1​]</a:t>
            </a:r>
            <a:r>
              <a:rPr baseline="30000" lang="en-GB" sz="1500"/>
              <a:t>T</a:t>
            </a:r>
            <a:r>
              <a:rPr lang="en-GB" sz="1500"/>
              <a:t>  and ∣←⟩= </a:t>
            </a:r>
            <a:r>
              <a:rPr lang="en-GB" sz="1500"/>
              <a:t>1/√2 </a:t>
            </a:r>
            <a:r>
              <a:rPr lang="en-GB" sz="1500"/>
              <a:t>[1  −1​]</a:t>
            </a:r>
            <a:r>
              <a:rPr baseline="30000" lang="en-GB" sz="1500"/>
              <a:t>T</a:t>
            </a:r>
            <a:endParaRPr baseline="30000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Step1: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Express Up State in Horizontal Basis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Lets say </a:t>
            </a:r>
            <a:r>
              <a:rPr lang="en-GB" sz="1700"/>
              <a:t>∣↑⟩= x1​ ∣→⟩ + x2​ ∣←⟩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</a:t>
            </a:r>
            <a:r>
              <a:rPr lang="en-GB" sz="1500"/>
              <a:t>tep 2: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Now substitute the vectors.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[1  0​]</a:t>
            </a:r>
            <a:r>
              <a:rPr baseline="30000" lang="en-GB" sz="1500"/>
              <a:t>T</a:t>
            </a:r>
            <a:r>
              <a:rPr lang="en-GB" sz="1500"/>
              <a:t>=x₁ [1/√2  1√2]</a:t>
            </a:r>
            <a:r>
              <a:rPr baseline="30000" lang="en-GB" sz="1500"/>
              <a:t>T</a:t>
            </a:r>
            <a:r>
              <a:rPr lang="en-GB" sz="1500"/>
              <a:t> +  x₂[1/√2  -1/√2]</a:t>
            </a:r>
            <a:r>
              <a:rPr baseline="30000" lang="en-GB" sz="1500"/>
              <a:t>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[1  0​]</a:t>
            </a:r>
            <a:r>
              <a:rPr baseline="30000"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= 1/√2 ​</a:t>
            </a:r>
            <a:r>
              <a:rPr lang="en-GB" sz="21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​+ x</a:t>
            </a:r>
            <a:r>
              <a:rPr baseline="-25000"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 ​x</a:t>
            </a:r>
            <a:r>
              <a:rPr baseline="-25000"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​− x</a:t>
            </a:r>
            <a:r>
              <a:rPr baseline="-25000"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​​</a:t>
            </a:r>
            <a:r>
              <a:rPr lang="en-GB" sz="21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]</a:t>
            </a:r>
            <a:r>
              <a:rPr baseline="30000" lang="en-GB" sz="21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Measuring Spin in Same Direction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Given a spin lets say: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|ψ⟩ = 1|↑⟩ + 0|↓⟩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of </a:t>
            </a:r>
            <a:r>
              <a:rPr b="1"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|↑⟩</a:t>
            </a: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(100%) and for  </a:t>
            </a:r>
            <a:r>
              <a:rPr b="1"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|↓⟩ </a:t>
            </a: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0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we measure this same vector again in the same direction, the result will be the same only.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Eg: Vertical → Vertical → Vertical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Result: Always identical (in this case always 1 for |↑⟩)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3">
            <a:alphaModFix/>
          </a:blip>
          <a:srcRect b="0" l="9132" r="0" t="0"/>
          <a:stretch/>
        </p:blipFill>
        <p:spPr>
          <a:xfrm>
            <a:off x="194450" y="2319300"/>
            <a:ext cx="3706500" cy="26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85650" y="164750"/>
            <a:ext cx="4019400" cy="48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Measurements in a Row: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2"/>
              <a:t>Vertical → Horizontal → Vertical</a:t>
            </a:r>
            <a:endParaRPr sz="2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We consider the sequence: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Assume the first result is Up.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Sol</a:t>
            </a:r>
            <a:r>
              <a:rPr baseline="30000" lang="en-GB" sz="1700"/>
              <a:t>n</a:t>
            </a:r>
            <a:r>
              <a:rPr lang="en-GB" sz="1700"/>
              <a:t>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Initially</a:t>
            </a:r>
            <a:r>
              <a:rPr lang="en-GB" sz="1700"/>
              <a:t> 	∣ψ⟩=∣↑⟩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Since if we measures this vertically i.e. same direction and the state collapses to: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33"/>
              <a:t>∣ψ⟩=∣↑⟩</a:t>
            </a:r>
            <a:endParaRPr sz="2033"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462575" y="164750"/>
            <a:ext cx="4681500" cy="48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Now we measure in horizontal basis.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∣↑⟩=1/√2 ∣→⟩ +1/√2 ∣←⟩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Suppose the second measurement gives(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collapse to a single state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∣ψ⟩=∣←⟩ 		{ P(→)=½  P(←)=½ } ​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we measure for the third time this vector but now in vertical direction, we will get result as: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∣ψ⟩=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1/√2 </a:t>
            </a: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∣↑⟩+ 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1/√2  </a:t>
            </a:r>
            <a:r>
              <a:rPr lang="en-GB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​∣↓⟩</a:t>
            </a:r>
            <a:r>
              <a:rPr lang="en-GB" sz="15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………………………….(1)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Thus, we see that the result is not same as the previous state.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First vertical gives 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Up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.Second horizontal gives 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Left 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or 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Right(with 50-50%)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. Now, if we measure this vector in vertical direction, we will get up(with 50 -50 probability).</a:t>
            </a:r>
            <a:endParaRPr sz="1400">
              <a:solidFill>
                <a:schemeClr val="dk1"/>
              </a:solidFill>
              <a:highlight>
                <a:schemeClr val="lt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Means total P(up) =50%     </a:t>
            </a:r>
            <a:r>
              <a:rPr lang="en-GB" sz="2458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{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 |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1/√2|</a:t>
            </a:r>
            <a:r>
              <a:rPr baseline="30000" lang="en-GB" sz="2035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 sz="2035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=½ </a:t>
            </a:r>
            <a:r>
              <a:rPr lang="en-GB" sz="1564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(50%) from eq. 1</a:t>
            </a:r>
            <a:r>
              <a:rPr lang="en-GB" sz="2505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endParaRPr sz="2105">
              <a:solidFill>
                <a:schemeClr val="dk1"/>
              </a:solidFill>
              <a:highlight>
                <a:schemeClr val="lt1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 Collapse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Before measurement →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superposition</a:t>
            </a:r>
            <a:endParaRPr b="1"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After measurement → single state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State vector jumps to basis vector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is called wavefunction collapse.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25275" y="158425"/>
            <a:ext cx="3889500" cy="20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Question 1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Inter"/>
                <a:ea typeface="Inter"/>
                <a:cs typeface="Inter"/>
                <a:sym typeface="Inter"/>
              </a:rPr>
              <a:t>Given quantum state representation of Vector V in horizontal basis, express the vector in vertical bases.</a:t>
            </a:r>
            <a:endParaRPr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4324650" y="158425"/>
            <a:ext cx="4998000" cy="4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Solution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Substitute the vertical basis equivalents into the equation: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|V</a:t>
            </a:r>
            <a:r>
              <a:rPr lang="en-GB" sz="17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⟩</a:t>
            </a:r>
            <a:r>
              <a:rPr lang="en-GB" sz="12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1 ⟨</a:t>
            </a:r>
            <a:r>
              <a:rPr lang="en-GB" sz="1267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 + 0⟨↓|</a:t>
            </a:r>
            <a:endParaRPr sz="1267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67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So ,in vertical basis it is purely Spin Up</a:t>
            </a:r>
            <a:r>
              <a:rPr b="1" lang="en-GB" sz="17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.</a:t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55459"/>
            <a:ext cx="4037567" cy="5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8425"/>
            <a:ext cx="2586900" cy="5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9325" y="2260450"/>
            <a:ext cx="3053250" cy="60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3788" y="3009825"/>
            <a:ext cx="2534000" cy="66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3210" y="4099926"/>
            <a:ext cx="2392650" cy="1001350"/>
          </a:xfrm>
          <a:prstGeom prst="rect">
            <a:avLst/>
          </a:prstGeom>
          <a:noFill/>
          <a:ln cap="flat" cmpd="sng" w="38100">
            <a:solidFill>
              <a:srgbClr val="31394D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State vectors in quantum spin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Two state vectors are equivalent if no measurement can distinguish them.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Consider two states</a:t>
            </a:r>
            <a:r>
              <a:rPr lang="en-GB"/>
              <a:t>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 and -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 &amp; let their measurement basis be ⟨b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and ⟨b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 = x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 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⟨ 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+ x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 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⟨ 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 =- x</a:t>
            </a:r>
            <a:r>
              <a:rPr baseline="-25000" lang="en-GB" sz="14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1 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⟨ 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b</a:t>
            </a:r>
            <a:r>
              <a:rPr baseline="-25000" lang="en-GB" sz="14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- x</a:t>
            </a:r>
            <a:r>
              <a:rPr baseline="-25000" lang="en-GB" sz="14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2 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⟨ 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b</a:t>
            </a:r>
            <a:r>
              <a:rPr baseline="-25000" lang="en-GB" sz="1400">
                <a:solidFill>
                  <a:schemeClr val="dk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Probability for ⟨b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= |x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</a:t>
            </a:r>
            <a:r>
              <a:rPr baseline="30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     (in case of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↑|)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Probability for ⟨b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= |x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</a:t>
            </a:r>
            <a:r>
              <a:rPr baseline="30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    (in case of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Probability for ⟨b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= |-x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</a:t>
            </a:r>
            <a:r>
              <a:rPr baseline="30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  (in case of -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↑|)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Probability for ⟨b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= |-x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</a:t>
            </a:r>
            <a:r>
              <a:rPr baseline="30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(in case of -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Thus, we say that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 and -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⟨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↑| are equivalent state vectors.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State vectors in quantum spin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concept in equivalent state vectors in quantum spin is that for 2 vectors to be equivalent their probabilities should be same. But this is not the main concept.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Main concept for 2 vectors to be equivalent is that their measurements in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horizontal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vertical direction should be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same.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That is: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Say vector |V1| &amp; |V2| should have same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horizontal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measurement (lets say x</a:t>
            </a:r>
            <a:r>
              <a:rPr baseline="-25000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x</a:t>
            </a:r>
            <a:r>
              <a:rPr baseline="-25000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and same vertical measurement (lets say x</a:t>
            </a:r>
            <a:r>
              <a:rPr baseline="-25000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x</a:t>
            </a:r>
            <a:r>
              <a:rPr baseline="-25000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25" y="500925"/>
            <a:ext cx="3706500" cy="22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1: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+ 1/√2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2: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+ 1/√2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3: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- 1/√2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4: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- 1/√2 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Inter"/>
                <a:ea typeface="Inter"/>
                <a:cs typeface="Inter"/>
                <a:sym typeface="Inter"/>
              </a:rPr>
              <a:t>Check if they are equivalent or not?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 </a:t>
            </a:r>
            <a:endParaRPr sz="1800"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4644675" y="500925"/>
            <a:ext cx="4166400" cy="3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we go by the probability logic, all 4 vectors have same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probability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i.e (50%-50%) for ⟨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↑| &amp; ⟨↓|. So all 4 should be equivalent but that's not the case.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endParaRPr b="1"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States 1 &amp; 4 are equivalent (same measurement in both horizontal &amp; vertical direction)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Also States 2 &amp; 3 are equivalent (same measurement in both horizontal &amp; vertical direction)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1: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+ 1/√2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2: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+ 1/√2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3: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- 1/√2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4: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- 1/√2 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Inter"/>
                <a:ea typeface="Inter"/>
                <a:cs typeface="Inter"/>
                <a:sym typeface="Inter"/>
              </a:rPr>
              <a:t>Check if they are equivalent or not?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Solution(Continue):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Now,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let's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check for State 1 &amp; 3: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State 1 in horizontal direction: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√2[1  0] + 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√2[0  1] = x</a:t>
            </a:r>
            <a:r>
              <a:rPr baseline="-2500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[1/√2  1/√2] + x</a:t>
            </a:r>
            <a:r>
              <a:rPr baseline="-2500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[1/√2  -1/√2]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solving, we find that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r>
              <a:rPr b="1" baseline="-2500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1, x</a:t>
            </a:r>
            <a:r>
              <a:rPr b="1" baseline="-2500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State 3 in horizontal direction: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√2[1  0] - 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√2[0  1] = x</a:t>
            </a:r>
            <a:r>
              <a:rPr baseline="-2500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[1/√2  1/√2] + x</a:t>
            </a:r>
            <a:r>
              <a:rPr baseline="-2500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[1/√2  -1/√2]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solving, we find that 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x</a:t>
            </a:r>
            <a:r>
              <a:rPr b="1" baseline="-25000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GB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8000" y="3930100"/>
            <a:ext cx="1353500" cy="9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1: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+ 1/√2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2: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+ 1/√2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3: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- 1/√2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4: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1/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√2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⟨↑|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- 1/√2  </a:t>
            </a:r>
            <a:r>
              <a:rPr lang="en-GB" sz="1400">
                <a:latin typeface="Inter"/>
                <a:ea typeface="Inter"/>
                <a:cs typeface="Inter"/>
                <a:sym typeface="Inter"/>
              </a:rPr>
              <a:t>⟨ ↓|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Inter"/>
                <a:ea typeface="Inter"/>
                <a:cs typeface="Inter"/>
                <a:sym typeface="Inter"/>
              </a:rPr>
              <a:t>Check if they are equivalent or not?</a:t>
            </a:r>
            <a:endParaRPr sz="14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Solution(continue):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Thus, we find that State 1 and State 3 have different measurements in horizontal direction and hence, they are not equivalent.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Similarly, State 2 and State 4 are also not equivalent.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Hence, State 1 and State 4 are equivalent. State 2 and State 3 are equivalent.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 of Measurement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4644675" y="500925"/>
            <a:ext cx="4166400" cy="4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Angle 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α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is the Basis angle - The angle the 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state vectors / basis vectors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rotate in Hilbert space (math space)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Angle 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θ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is the Apparatus angle - The angle you rotate the measuring device (magnets / detector)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Quantum states can be rotated using a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rotation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matrix: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R(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α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) = 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α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=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GB" sz="1400">
                <a:solidFill>
                  <a:srgbClr val="474747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90°, then R(90) 0 = [0  -1] &amp; </a:t>
            </a:r>
            <a:endParaRPr sz="1400">
              <a:solidFill>
                <a:srgbClr val="474747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474747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      R(90) 1 = [1    0]</a:t>
            </a:r>
            <a:endParaRPr sz="1400">
              <a:solidFill>
                <a:srgbClr val="474747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474747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7500" y="2707425"/>
            <a:ext cx="22193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275" y="1833800"/>
            <a:ext cx="3493725" cy="29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 b/w apparatus &amp; basis angle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relation between 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apparatus angle and basis angle is that</a:t>
            </a:r>
            <a:r>
              <a:rPr lang="en-GB"/>
              <a:t> 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θ = 2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α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(θ) = 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950" y="1234725"/>
            <a:ext cx="3357050" cy="11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474" y="2523350"/>
            <a:ext cx="2446250" cy="21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will be the measurement after we rotate the apparatus through </a:t>
            </a:r>
            <a:r>
              <a:rPr lang="en-GB" sz="1700">
                <a:latin typeface="Roboto"/>
                <a:ea typeface="Roboto"/>
                <a:cs typeface="Roboto"/>
                <a:sym typeface="Roboto"/>
              </a:rPr>
              <a:t>60°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4644675" y="500925"/>
            <a:ext cx="4166400" cy="44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Rotating the Apparatus through 60°  (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θ = 60)</a:t>
            </a:r>
            <a:endParaRPr b="1"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endParaRPr b="1"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know: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R(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θ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= 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∴</a:t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∴  </a:t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275" y="1711175"/>
            <a:ext cx="3357050" cy="11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8500" y="3128950"/>
            <a:ext cx="254317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4325" y="3996800"/>
            <a:ext cx="204787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Solution(continue):</a:t>
            </a:r>
            <a:endParaRPr b="1"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we measure this vector in N direction: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Probability of N = </a:t>
            </a:r>
            <a:r>
              <a:rPr b="1"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lang="en-GB" sz="16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√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3/2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1" baseline="30000" lang="en-GB" sz="19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= </a:t>
            </a:r>
            <a:r>
              <a:rPr b="1" lang="en-GB" sz="18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¾ 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( 75%)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3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will be the measurement after we rotate the apparatus through </a:t>
            </a:r>
            <a:r>
              <a:rPr lang="en-GB" sz="1700">
                <a:latin typeface="Roboto"/>
                <a:ea typeface="Roboto"/>
                <a:cs typeface="Roboto"/>
                <a:sym typeface="Roboto"/>
              </a:rPr>
              <a:t>60°</a:t>
            </a:r>
            <a:endParaRPr/>
          </a:p>
        </p:txBody>
      </p:sp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800" y="1429675"/>
            <a:ext cx="304800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25" y="118830"/>
            <a:ext cx="35406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Photons &amp; Polarization </a:t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4644675" y="500925"/>
            <a:ext cx="4166400" cy="32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Photon polarization behaves exactly like spin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Consider 2 filters: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1st filter is 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0°(vertical) = [1  0]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2nd</a:t>
            </a: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filter is 9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0°(horizontal) = [0  1]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Projection = ⟨ H | V⟩ = 0 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No photon(light) will pass through both the filters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47474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32"/>
          <p:cNvPicPr preferRelativeResize="0"/>
          <p:nvPr/>
        </p:nvPicPr>
        <p:blipFill rotWithShape="1">
          <a:blip r:embed="rId3">
            <a:alphaModFix/>
          </a:blip>
          <a:srcRect b="0" l="70391" r="0" t="0"/>
          <a:stretch/>
        </p:blipFill>
        <p:spPr>
          <a:xfrm>
            <a:off x="1021750" y="3546800"/>
            <a:ext cx="1763724" cy="147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 b="0" l="0" r="29093" t="0"/>
          <a:stretch/>
        </p:blipFill>
        <p:spPr>
          <a:xfrm>
            <a:off x="80650" y="1586174"/>
            <a:ext cx="4166399" cy="181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Polarizer Experiment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4644675" y="500925"/>
            <a:ext cx="4166400" cy="43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Consider 3 filters:</a:t>
            </a:r>
            <a:endParaRPr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1st filter is at 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0°(vertical) = [1  0]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2nd filter is at 45°: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⟨b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=  	[1  -1] , ⟨b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=  	  [1  1]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3rd filter is at 9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0°(horizontal) = [0  1]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Photons that pass through the first filter will be in state = [1  0]  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Probability of passing through 2nd filter is 50% (1/2)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After 2nd filter, state is: ⟨b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| =  	 [1  -1]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25" y="1969175"/>
            <a:ext cx="3015300" cy="277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frac{1}{{\\sqrt[]{2}}}$&quot;,&quot;backgroundColorModified&quot;:false,&quot;backgroundColor&quot;:&quot;#FFFFFF&quot;,&quot;type&quot;:&quot;$&quot;,&quot;aid&quot;:null,&quot;id&quot;:&quot;2&quot;,&quot;font&quot;:{&quot;color&quot;:&quot;#31394D&quot;,&quot;family&quot;:&quot;Arial&quot;,&quot;size&quot;:14},&quot;ts&quot;:1771349964782,&quot;cs&quot;:&quot;jJoYOWi8y9UPphb+0quxHA==&quot;,&quot;size&quot;:{&quot;width&quot;:25.333333333333332,&quot;height&quot;:31.666666666666668}}" id="211" name="Google Shape;21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5774" y="1624931"/>
            <a:ext cx="286400" cy="3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frac{1}{{\\sqrt[]{2}}}$&quot;,&quot;backgroundColorModified&quot;:false,&quot;backgroundColor&quot;:&quot;#FFFFFF&quot;,&quot;type&quot;:&quot;$&quot;,&quot;aid&quot;:null,&quot;id&quot;:&quot;2&quot;,&quot;font&quot;:{&quot;color&quot;:&quot;#31394D&quot;,&quot;family&quot;:&quot;Arial&quot;,&quot;size&quot;:14},&quot;ts&quot;:1771349964782,&quot;cs&quot;:&quot;jJoYOWi8y9UPphb+0quxHA==&quot;,&quot;size&quot;:{&quot;width&quot;:25.333333333333332,&quot;height&quot;:31.666666666666668}}" id="212" name="Google Shape;21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9714" y="1624927"/>
            <a:ext cx="286400" cy="3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frac{1}{{\\sqrt[]{2}}}$&quot;,&quot;backgroundColorModified&quot;:false,&quot;backgroundColor&quot;:&quot;#FFFFFF&quot;,&quot;type&quot;:&quot;$&quot;,&quot;aid&quot;:null,&quot;id&quot;:&quot;2&quot;,&quot;font&quot;:{&quot;color&quot;:&quot;#31394D&quot;,&quot;family&quot;:&quot;Arial&quot;,&quot;size&quot;:14},&quot;ts&quot;:1771349964782,&quot;cs&quot;:&quot;jJoYOWi8y9UPphb+0quxHA==&quot;,&quot;size&quot;:{&quot;width&quot;:25.333333333333332,&quot;height&quot;:31.666666666666668}}" id="213" name="Google Shape;21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0022" y="4167818"/>
            <a:ext cx="242875" cy="3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Polarizer Experiment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4644675" y="500925"/>
            <a:ext cx="4166400" cy="45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Third filter basis is at 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90°: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⟨H| = [0  1]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Projection onto the 3rd filter pass direction: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⟨H | b</a:t>
            </a:r>
            <a:r>
              <a:rPr baseline="-25000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⟩ = </a:t>
            </a:r>
            <a:r>
              <a:rPr b="1"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-</a:t>
            </a: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	     as 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Thus, probability of passing through 3rd filter is 50%.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Overall probability = ½ * ½ * ½ = ⅛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Only 12.5% of photons will pass through the setup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25" y="1969175"/>
            <a:ext cx="3015300" cy="27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4"/>
          <p:cNvPicPr preferRelativeResize="0"/>
          <p:nvPr/>
        </p:nvPicPr>
        <p:blipFill rotWithShape="1">
          <a:blip r:embed="rId4">
            <a:alphaModFix/>
          </a:blip>
          <a:srcRect b="0" l="0" r="41873" t="0"/>
          <a:stretch/>
        </p:blipFill>
        <p:spPr>
          <a:xfrm>
            <a:off x="4943345" y="1571950"/>
            <a:ext cx="1544675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frac{1}{{\\sqrt[]{2}}}$&quot;,&quot;backgroundColorModified&quot;:false,&quot;backgroundColor&quot;:&quot;#FFFFFF&quot;,&quot;type&quot;:&quot;$&quot;,&quot;aid&quot;:null,&quot;id&quot;:&quot;2&quot;,&quot;font&quot;:{&quot;color&quot;:&quot;#31394D&quot;,&quot;family&quot;:&quot;Arial&quot;,&quot;size&quot;:14},&quot;ts&quot;:1771349964782,&quot;cs&quot;:&quot;jJoYOWi8y9UPphb+0quxHA==&quot;,&quot;size&quot;:{&quot;width&quot;:25.333333333333332,&quot;height&quot;:31.666666666666668}}" id="222" name="Google Shape;22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9445" y="2951044"/>
            <a:ext cx="231550" cy="2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ctrTitle"/>
          </p:nvPr>
        </p:nvSpPr>
        <p:spPr>
          <a:xfrm>
            <a:off x="311700" y="1624050"/>
            <a:ext cx="8520600" cy="9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</a:t>
            </a:r>
            <a:endParaRPr/>
          </a:p>
        </p:txBody>
      </p:sp>
      <p:sp>
        <p:nvSpPr>
          <p:cNvPr id="228" name="Google Shape;228;p35"/>
          <p:cNvSpPr txBox="1"/>
          <p:nvPr>
            <p:ph idx="1" type="subTitle"/>
          </p:nvPr>
        </p:nvSpPr>
        <p:spPr>
          <a:xfrm>
            <a:off x="4264075" y="37410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Rahul Kumar   Vidit Prashant Gala</a:t>
            </a:r>
            <a:endParaRPr b="1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252is029		252is012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Reference</a:t>
            </a:r>
            <a:endParaRPr u="sng"/>
          </a:p>
        </p:txBody>
      </p:sp>
      <p:sp>
        <p:nvSpPr>
          <p:cNvPr id="234" name="Google Shape;234;p36"/>
          <p:cNvSpPr txBox="1"/>
          <p:nvPr>
            <p:ph idx="1" type="subTitle"/>
          </p:nvPr>
        </p:nvSpPr>
        <p:spPr>
          <a:xfrm>
            <a:off x="311700" y="1878550"/>
            <a:ext cx="6971700" cy="1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-342900" lvl="0" marL="457200" rtl="0" algn="l">
              <a:lnSpc>
                <a:spcPct val="128571"/>
              </a:lnSpc>
              <a:spcBef>
                <a:spcPts val="300"/>
              </a:spcBef>
              <a:spcAft>
                <a:spcPts val="0"/>
              </a:spcAft>
              <a:buClr>
                <a:srgbClr val="3C78D8"/>
              </a:buClr>
              <a:buSzPct val="100000"/>
              <a:buFont typeface="Arial"/>
              <a:buChar char="●"/>
            </a:pPr>
            <a:r>
              <a:rPr lang="en-GB" sz="72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Quantum Computing for Everyone (Book by Chris Bernhardt)</a:t>
            </a:r>
            <a:endParaRPr sz="7200">
              <a:solidFill>
                <a:srgbClr val="3C78D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